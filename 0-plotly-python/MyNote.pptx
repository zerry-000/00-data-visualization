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4" r:id="rId3"/>
    <p:sldId id="260" r:id="rId4"/>
    <p:sldId id="257" r:id="rId5"/>
    <p:sldId id="259" r:id="rId6"/>
    <p:sldId id="258" r:id="rId7"/>
    <p:sldId id="261" r:id="rId8"/>
    <p:sldId id="262" r:id="rId9"/>
    <p:sldId id="263" r:id="rId10"/>
    <p:sldId id="265" r:id="rId11"/>
  </p:sldIdLst>
  <p:sldSz cx="12192000" cy="6858000"/>
  <p:notesSz cx="6858000" cy="9144000"/>
  <p:embeddedFontLst>
    <p:embeddedFont>
      <p:font typeface="Anuphan" pitchFamily="2" charset="-34"/>
      <p:regular r:id="rId12"/>
      <p:bold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dm mono" panose="020B0509040201040103" pitchFamily="49" charset="0"/>
      <p:regular r:id="rId18"/>
      <p: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ACA5"/>
    <a:srgbClr val="EDECEB"/>
    <a:srgbClr val="C2AB98"/>
    <a:srgbClr val="E1D6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CB7C-9823-2134-833F-9F4D3958C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34A7DA-B950-04F3-7866-E4AC42F29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D4A58-FF22-E4C7-A317-C1D285BFA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D09FB-24E2-AB60-0A91-31F6C414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49D42-1BFB-0B4C-196E-941D1A5C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8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C405C-3316-BBB8-621D-36AE804E2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F5B56-D24F-E703-FDB5-D2A86E582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DC36-552C-408D-CC8A-17B8B331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06CAD-6436-17CE-B3FC-00094BEC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AE3DE-C928-E754-7109-83CF3EC9C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3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3AF8-3C96-AAE0-CDA8-7839C34C2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F7CE3-9792-77CB-E6C9-431DCBEAA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662D5-9742-CF6B-1E4F-592EBA05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41537-C61D-DEE6-0928-DD07CC25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A6956-6CB8-1CB2-BBEC-FF26D20C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54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DD70-A214-B49A-60CD-C6111EF6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59AB2-D1FB-9D71-5F7C-86ACDB3EA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F93FE-E116-806B-42FD-886D1C926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DF5AE-94E8-AE04-225A-EAA1170E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DB2CB-E9CE-136E-0CF1-6FB5C1F7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F6627-03AD-71C0-EAEF-8921E364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6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3C6B-990A-89A1-8813-CC6B66452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8713A-7530-6988-DB10-B78C7CEA3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74C59-01DE-C622-9FC2-F42434D83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A00DC-2450-C398-E8EE-DBCEBCD90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D1D33D-86A2-C827-6A1A-4050CB284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A8446-D94C-2F32-30E6-7726B9C4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9256E-BDB8-0375-7FC3-B9666B83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4497C-3671-D66B-C949-38E01196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10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CB05-0743-E153-C667-5A924BD3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620E05-4B14-54C9-1C91-E8D1530ED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919A4-6C22-86FD-FF40-9FB701D4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E70E2-71C0-D632-8EEF-96CAE82A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7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23B640-0B38-4E3C-6AED-614F7B5D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F0860-8E52-17FC-C7C5-F33C2D6B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BC179-14F7-8613-4633-2817ECE4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8962-3B99-2ED9-4022-D76F8E6A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4719-6D69-8388-9C5C-D3D75B63B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10768-C13A-7C7F-B75F-498FAF627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99A02-F89F-CB02-41AA-AB410C02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09CED-44B9-AF93-DB90-2249ECF0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9CBDC-6443-690C-5F08-9742CEEF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9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52BB1-383E-246D-DF8A-1B7C40656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36279-2A26-47C9-E038-9049570B6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87FAE-2A25-BD65-4EA9-F0388E040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31064-05C6-59F9-DE4E-B2DE4C62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7741B-A990-E55F-9D30-FC551B2B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778FA-8E3E-C4C6-021C-ACE55217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69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A808-03DE-355A-13E4-A3217427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C392C-0DFF-C93E-C90A-173FE89E7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021BE-6E5F-4B74-C39F-EAA2AA23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B4D38-626F-E7A1-A0C6-54AC441D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6898E-62E7-34C9-50BE-5C564A22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81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980C1-8D77-E051-862E-B943A5CCC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39C31-93ED-4ED2-1F1D-B171D5773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A9575-0D42-3EA6-ABBC-EA24BB79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71C54-E5C5-414E-C1D1-756144CB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C6B4D-574A-8240-48C1-E265BFA4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4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1BFD0-2F98-EFAE-FB02-F96A422A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C3C68-108E-C8C5-49A5-984A3D143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CC05B-7974-C9C9-3696-F01CD9DF1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F70A5-F092-42B2-AD0C-02FEFF74D2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233D4-B400-5FF8-44B6-7CE5189BB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E9A74-B6A6-7A63-91DF-21E49FCE9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4AA51-CDE8-4D79-A39E-7DA175F58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3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lotly.com/pytho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lotly.com/python/figure-structur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lotly.com/python/plotly-express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lotly.com/python/creating-and-updating-figure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lot.ly/python/plotly-expres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lotly.com/python-api-reference/" TargetMode="External"/><Relationship Id="rId2" Type="http://schemas.openxmlformats.org/officeDocument/2006/relationships/hyperlink" Target="https://plotly.com/python-api-reference/plotly.expres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7F0963-BCF0-B066-ECB5-B50FF9AF4DAD}"/>
              </a:ext>
            </a:extLst>
          </p:cNvPr>
          <p:cNvSpPr txBox="1"/>
          <p:nvPr/>
        </p:nvSpPr>
        <p:spPr>
          <a:xfrm>
            <a:off x="1209368" y="292116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Anuphan" pitchFamily="2" charset="-34"/>
                <a:cs typeface="Anuphan" pitchFamily="2" charset="-34"/>
              </a:rPr>
              <a:t>Plotly - Python</a:t>
            </a:r>
            <a:endParaRPr lang="en-US" sz="6000" dirty="0">
              <a:latin typeface="Anuphan" pitchFamily="2" charset="-34"/>
              <a:cs typeface="Anuphan" pitchFamily="2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127A7-4142-5473-672C-67E746A1DDF7}"/>
              </a:ext>
            </a:extLst>
          </p:cNvPr>
          <p:cNvSpPr txBox="1"/>
          <p:nvPr/>
        </p:nvSpPr>
        <p:spPr>
          <a:xfrm>
            <a:off x="1209368" y="3936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https://plotly.com/python/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0568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64BA-4FCE-505F-85EE-4B9FC28C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2FF53-FEF9-5126-5962-A05A9B1DB1FB}"/>
              </a:ext>
            </a:extLst>
          </p:cNvPr>
          <p:cNvSpPr txBox="1"/>
          <p:nvPr/>
        </p:nvSpPr>
        <p:spPr>
          <a:xfrm>
            <a:off x="1209368" y="944884"/>
            <a:ext cx="6322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Document - Reading guide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0166F4-5632-B8FC-CC45-DD4B6A57E564}"/>
              </a:ext>
            </a:extLst>
          </p:cNvPr>
          <p:cNvSpPr txBox="1"/>
          <p:nvPr/>
        </p:nvSpPr>
        <p:spPr>
          <a:xfrm>
            <a:off x="1209368" y="1732971"/>
            <a:ext cx="977326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Figure Data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Creating and Updating Figures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Figures As Dictionaries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Figures as Graph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Plotly Express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Magic Underscore Notation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Plotly Express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Displaying Figures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Read only: the renderer for your environment (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Jupyter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 notebook, VS Code, etc.) — just find your setup and move on</a:t>
            </a:r>
          </a:p>
        </p:txBody>
      </p:sp>
    </p:spTree>
    <p:extLst>
      <p:ext uri="{BB962C8B-B14F-4D97-AF65-F5344CB8AC3E}">
        <p14:creationId xmlns:p14="http://schemas.microsoft.com/office/powerpoint/2010/main" val="69490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48F1C7-F8E2-FBEC-D5A9-269E330446AD}"/>
              </a:ext>
            </a:extLst>
          </p:cNvPr>
          <p:cNvSpPr txBox="1"/>
          <p:nvPr/>
        </p:nvSpPr>
        <p:spPr>
          <a:xfrm>
            <a:off x="1052052" y="3246792"/>
            <a:ext cx="100878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400" b="1" i="0" dirty="0">
                <a:solidFill>
                  <a:srgbClr val="20293D"/>
                </a:solidFill>
                <a:effectLst/>
                <a:latin typeface="Anuphan" pitchFamily="2" charset="-34"/>
                <a:cs typeface="Anuphan" pitchFamily="2" charset="-34"/>
              </a:rPr>
              <a:t>The Figure Data Structure in 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C4C34-2135-4DDF-F881-B2E89B36BA53}"/>
              </a:ext>
            </a:extLst>
          </p:cNvPr>
          <p:cNvSpPr txBox="1"/>
          <p:nvPr/>
        </p:nvSpPr>
        <p:spPr>
          <a:xfrm>
            <a:off x="1052052" y="40162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The figure data structure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37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26A7-C2D8-581D-F44D-DEF64929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1F4946-B34B-F8FF-3829-B0E302678745}"/>
              </a:ext>
            </a:extLst>
          </p:cNvPr>
          <p:cNvSpPr txBox="1"/>
          <p:nvPr/>
        </p:nvSpPr>
        <p:spPr>
          <a:xfrm>
            <a:off x="884902" y="1407312"/>
            <a:ext cx="1026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Plotly Python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 is essentially a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Python wrapper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 around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Plotly.js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 (JavaScript).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CBB6E-7809-A567-1632-27573788F1B0}"/>
              </a:ext>
            </a:extLst>
          </p:cNvPr>
          <p:cNvSpPr txBox="1"/>
          <p:nvPr/>
        </p:nvSpPr>
        <p:spPr>
          <a:xfrm>
            <a:off x="884901" y="2114388"/>
            <a:ext cx="102648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The Python side handles creating and manipulating figures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(as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dicts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 or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Anuphan" pitchFamily="2" charset="-34"/>
              </a:rPr>
              <a:t>plotly.graph_objects.Figure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Anuphan" pitchFamily="2" charset="-34"/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objects),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then serializes them to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JSON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, which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Plotly.js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nuphan" pitchFamily="2" charset="-34"/>
                <a:cs typeface="Anuphan" pitchFamily="2" charset="-34"/>
              </a:rPr>
              <a:t> uses to do the actual rendering.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9C354-E143-6AA2-8797-BC438E6EBF26}"/>
              </a:ext>
            </a:extLst>
          </p:cNvPr>
          <p:cNvSpPr txBox="1"/>
          <p:nvPr/>
        </p:nvSpPr>
        <p:spPr>
          <a:xfrm>
            <a:off x="1022554" y="3302394"/>
            <a:ext cx="10205886" cy="923330"/>
          </a:xfrm>
          <a:prstGeom prst="rect">
            <a:avLst/>
          </a:prstGeom>
          <a:solidFill>
            <a:srgbClr val="EDECEB"/>
          </a:solidFill>
          <a:ln w="19050">
            <a:solidFill>
              <a:srgbClr val="B5ACA5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the recommended entry-point into the </a:t>
            </a:r>
            <a:r>
              <a:rPr lang="en-US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plotly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package is the</a:t>
            </a:r>
            <a:r>
              <a:rPr lang="en-US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 </a:t>
            </a:r>
            <a:r>
              <a:rPr lang="en-US" b="0" i="0" u="sng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nuphan" pitchFamily="2" charset="-34"/>
                <a:cs typeface="Anuphan" pitchFamily="2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high-level </a:t>
            </a:r>
            <a:r>
              <a:rPr lang="en-US" b="0" i="0" u="sng" dirty="0" err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nuphan" pitchFamily="2" charset="-34"/>
                <a:cs typeface="Anuphan" pitchFamily="2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plotly.express</a:t>
            </a:r>
            <a:r>
              <a:rPr lang="en-US" b="0" i="0" u="sng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nuphan" pitchFamily="2" charset="-34"/>
                <a:cs typeface="Anuphan" pitchFamily="2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module, also known as Plotly Express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, which consists of Python functions which return fully-populated </a:t>
            </a:r>
            <a:r>
              <a:rPr lang="en-US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  <a:cs typeface="Anuphan" pitchFamily="2" charset="-34"/>
              </a:rPr>
              <a:t>plotly.graph_objects.Figure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  <a:cs typeface="Anuphan" pitchFamily="2" charset="-34"/>
              </a:rPr>
              <a:t> 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objects. 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nuphan" pitchFamily="2" charset="-34"/>
              <a:cs typeface="Anuphan" pitchFamily="2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DC1DA5-2E4C-199D-C6F6-F39CF6002946}"/>
              </a:ext>
            </a:extLst>
          </p:cNvPr>
          <p:cNvSpPr txBox="1"/>
          <p:nvPr/>
        </p:nvSpPr>
        <p:spPr>
          <a:xfrm>
            <a:off x="1022554" y="4563468"/>
            <a:ext cx="7531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Flow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dict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/ Figure object → JSON → Plotly.js (renders the chart)</a:t>
            </a:r>
          </a:p>
        </p:txBody>
      </p:sp>
    </p:spTree>
    <p:extLst>
      <p:ext uri="{BB962C8B-B14F-4D97-AF65-F5344CB8AC3E}">
        <p14:creationId xmlns:p14="http://schemas.microsoft.com/office/powerpoint/2010/main" val="216209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33C5-BCE9-1F1F-1C58-BCFE327D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46453-0555-4A76-CC82-CF81A9E2C6BF}"/>
              </a:ext>
            </a:extLst>
          </p:cNvPr>
          <p:cNvSpPr txBox="1"/>
          <p:nvPr/>
        </p:nvSpPr>
        <p:spPr>
          <a:xfrm>
            <a:off x="884902" y="836192"/>
            <a:ext cx="1026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nuphan" pitchFamily="2" charset="-34"/>
                <a:cs typeface="Anuphan" pitchFamily="2" charset="-34"/>
              </a:rPr>
              <a:t>Viewing the underlying data structure </a:t>
            </a:r>
            <a:r>
              <a:rPr lang="en-US" b="0" i="0" dirty="0">
                <a:solidFill>
                  <a:srgbClr val="333333"/>
                </a:solidFill>
                <a:effectLst/>
                <a:latin typeface="Anuphan" pitchFamily="2" charset="-34"/>
                <a:cs typeface="Anuphan" pitchFamily="2" charset="-34"/>
              </a:rPr>
              <a:t>for any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Anuphan" pitchFamily="2" charset="-34"/>
              </a:rPr>
              <a:t>plotly.graph_objects.Figure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Anuphan" pitchFamily="2" charset="-34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nuphan" pitchFamily="2" charset="-34"/>
                <a:cs typeface="Anuphan" pitchFamily="2" charset="-34"/>
              </a:rPr>
              <a:t>object, including those returned by Plotly Express, can be done via</a:t>
            </a:r>
            <a:r>
              <a:rPr lang="en-US" b="1" i="0" dirty="0">
                <a:solidFill>
                  <a:srgbClr val="FF0000"/>
                </a:solidFill>
                <a:effectLst/>
                <a:latin typeface="Anuphan" pitchFamily="2" charset="-34"/>
                <a:cs typeface="Anuphan" pitchFamily="2" charset="-34"/>
              </a:rPr>
              <a:t> </a:t>
            </a:r>
            <a:r>
              <a:rPr lang="en-US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print(fig)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Anuphan" pitchFamily="2" charset="-34"/>
              <a:cs typeface="Anuphan" pitchFamily="2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81F35-5C95-F00D-8502-0DA0911F6EA3}"/>
              </a:ext>
            </a:extLst>
          </p:cNvPr>
          <p:cNvSpPr txBox="1"/>
          <p:nvPr/>
        </p:nvSpPr>
        <p:spPr>
          <a:xfrm>
            <a:off x="639095" y="1745086"/>
            <a:ext cx="5456905" cy="1354217"/>
          </a:xfrm>
          <a:prstGeom prst="rect">
            <a:avLst/>
          </a:prstGeom>
          <a:solidFill>
            <a:srgbClr val="EDECEB"/>
          </a:solidFill>
          <a:ln w="19050">
            <a:solidFill>
              <a:srgbClr val="B5ACA5"/>
            </a:solidFill>
          </a:ln>
        </p:spPr>
        <p:txBody>
          <a:bodyPr wrap="square">
            <a:spAutoFit/>
          </a:bodyPr>
          <a:lstStyle/>
          <a:p>
            <a:pPr latinLnBrk="1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050" b="0" i="0" dirty="0">
                <a:solidFill>
                  <a:srgbClr val="F34705"/>
                </a:solidFill>
                <a:effectLst/>
                <a:latin typeface="dm mono" panose="020F0502020204030204" pitchFamily="49" charset="0"/>
              </a:rPr>
              <a:t>import</a:t>
            </a:r>
            <a:r>
              <a:rPr lang="en-US" sz="1050" b="0" i="0" dirty="0">
                <a:solidFill>
                  <a:srgbClr val="BBBBBB"/>
                </a:solidFill>
                <a:effectLst/>
                <a:latin typeface="dm mono" panose="020F0502020204030204" pitchFamily="49" charset="0"/>
              </a:rPr>
              <a:t> </a:t>
            </a:r>
            <a:r>
              <a:rPr lang="en-US" sz="1050" b="0" i="0" dirty="0" err="1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plotly.express</a:t>
            </a:r>
            <a:r>
              <a:rPr lang="en-US" sz="1050" b="0" i="0" dirty="0">
                <a:solidFill>
                  <a:srgbClr val="BBBBBB"/>
                </a:solidFill>
                <a:effectLst/>
                <a:latin typeface="dm mono" panose="020F0502020204030204" pitchFamily="49" charset="0"/>
              </a:rPr>
              <a:t> </a:t>
            </a:r>
            <a:r>
              <a:rPr lang="en-US" sz="1050" b="0" i="0" dirty="0">
                <a:solidFill>
                  <a:srgbClr val="F34705"/>
                </a:solidFill>
                <a:effectLst/>
                <a:latin typeface="dm mono" panose="020F0502020204030204" pitchFamily="49" charset="0"/>
              </a:rPr>
              <a:t>as</a:t>
            </a:r>
            <a:r>
              <a:rPr lang="en-US" sz="1050" b="0" i="0" dirty="0">
                <a:solidFill>
                  <a:srgbClr val="BBBBBB"/>
                </a:solidFill>
                <a:effectLst/>
                <a:latin typeface="dm mono" panose="020F0502020204030204" pitchFamily="49" charset="0"/>
              </a:rPr>
              <a:t> </a:t>
            </a:r>
            <a:r>
              <a:rPr lang="en-US" sz="1050" b="0" i="0" dirty="0" err="1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px</a:t>
            </a:r>
            <a:endParaRPr lang="en-US" sz="1050" b="0" i="0" dirty="0">
              <a:solidFill>
                <a:srgbClr val="434F54"/>
              </a:solidFill>
              <a:effectLst/>
              <a:latin typeface="dm mono" panose="020F0502020204030204" pitchFamily="49" charset="0"/>
            </a:endParaRPr>
          </a:p>
          <a:p>
            <a:pPr latinLnBrk="1">
              <a:spcBef>
                <a:spcPts val="750"/>
              </a:spcBef>
              <a:spcAft>
                <a:spcPts val="750"/>
              </a:spcAft>
              <a:buNone/>
            </a:pPr>
            <a:endParaRPr lang="en-US" sz="1050" b="0" i="0" dirty="0">
              <a:solidFill>
                <a:srgbClr val="434F54"/>
              </a:solidFill>
              <a:effectLst/>
              <a:latin typeface="dm mono" panose="020F0502020204030204" pitchFamily="49" charset="0"/>
            </a:endParaRPr>
          </a:p>
          <a:p>
            <a:pPr latinLnBrk="1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fig </a:t>
            </a:r>
            <a:r>
              <a:rPr lang="en-US" sz="1050" b="0" i="0" dirty="0">
                <a:solidFill>
                  <a:srgbClr val="666666"/>
                </a:solidFill>
                <a:effectLst/>
                <a:latin typeface="dm mono" panose="020F0502020204030204" pitchFamily="49" charset="0"/>
              </a:rPr>
              <a:t>=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 </a:t>
            </a:r>
            <a:r>
              <a:rPr lang="en-US" sz="1050" b="0" i="0" dirty="0" err="1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px</a:t>
            </a:r>
            <a:r>
              <a:rPr lang="en-US" sz="1050" b="0" i="0" dirty="0" err="1">
                <a:solidFill>
                  <a:srgbClr val="666666"/>
                </a:solidFill>
                <a:effectLst/>
                <a:latin typeface="dm mono" panose="020F0502020204030204" pitchFamily="49" charset="0"/>
              </a:rPr>
              <a:t>.</a:t>
            </a:r>
            <a:r>
              <a:rPr lang="en-US" sz="1050" b="0" i="0" dirty="0" err="1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line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(x</a:t>
            </a:r>
            <a:r>
              <a:rPr lang="en-US" sz="1050" b="0" i="0" dirty="0">
                <a:solidFill>
                  <a:srgbClr val="666666"/>
                </a:solidFill>
                <a:effectLst/>
                <a:latin typeface="dm mono" panose="020F0502020204030204" pitchFamily="49" charset="0"/>
              </a:rPr>
              <a:t>=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[</a:t>
            </a:r>
            <a:r>
              <a:rPr lang="en-US" sz="1050" b="0" i="0" dirty="0">
                <a:solidFill>
                  <a:srgbClr val="0854A7"/>
                </a:solidFill>
                <a:effectLst/>
                <a:latin typeface="dm mono" panose="020F0502020204030204" pitchFamily="49" charset="0"/>
              </a:rPr>
              <a:t>"</a:t>
            </a:r>
            <a:r>
              <a:rPr lang="en-US" sz="1050" b="0" i="0" dirty="0" err="1">
                <a:solidFill>
                  <a:srgbClr val="0854A7"/>
                </a:solidFill>
                <a:effectLst/>
                <a:latin typeface="dm mono" panose="020F0502020204030204" pitchFamily="49" charset="0"/>
              </a:rPr>
              <a:t>a"</a:t>
            </a:r>
            <a:r>
              <a:rPr lang="en-US" sz="1050" b="0" i="0" dirty="0" err="1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,</a:t>
            </a:r>
            <a:r>
              <a:rPr lang="en-US" sz="1050" b="0" i="0" dirty="0" err="1">
                <a:solidFill>
                  <a:srgbClr val="0854A7"/>
                </a:solidFill>
                <a:effectLst/>
                <a:latin typeface="dm mono" panose="020F0502020204030204" pitchFamily="49" charset="0"/>
              </a:rPr>
              <a:t>"b"</a:t>
            </a:r>
            <a:r>
              <a:rPr lang="en-US" sz="1050" b="0" i="0" dirty="0" err="1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,</a:t>
            </a:r>
            <a:r>
              <a:rPr lang="en-US" sz="1050" b="0" i="0" dirty="0" err="1">
                <a:solidFill>
                  <a:srgbClr val="0854A7"/>
                </a:solidFill>
                <a:effectLst/>
                <a:latin typeface="dm mono" panose="020F0502020204030204" pitchFamily="49" charset="0"/>
              </a:rPr>
              <a:t>"c</a:t>
            </a:r>
            <a:r>
              <a:rPr lang="en-US" sz="1050" b="0" i="0" dirty="0">
                <a:solidFill>
                  <a:srgbClr val="0854A7"/>
                </a:solidFill>
                <a:effectLst/>
                <a:latin typeface="dm mono" panose="020F0502020204030204" pitchFamily="49" charset="0"/>
              </a:rPr>
              <a:t>"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], y</a:t>
            </a:r>
            <a:r>
              <a:rPr lang="en-US" sz="1050" b="0" i="0" dirty="0">
                <a:solidFill>
                  <a:srgbClr val="666666"/>
                </a:solidFill>
                <a:effectLst/>
                <a:latin typeface="dm mono" panose="020F0502020204030204" pitchFamily="49" charset="0"/>
              </a:rPr>
              <a:t>=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[</a:t>
            </a:r>
            <a:r>
              <a:rPr lang="en-US" sz="1050" b="0" i="0" dirty="0">
                <a:solidFill>
                  <a:srgbClr val="72A125"/>
                </a:solidFill>
                <a:effectLst/>
                <a:latin typeface="dm mono" panose="020F0502020204030204" pitchFamily="49" charset="0"/>
              </a:rPr>
              <a:t>1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,</a:t>
            </a:r>
            <a:r>
              <a:rPr lang="en-US" sz="1050" b="0" i="0" dirty="0">
                <a:solidFill>
                  <a:srgbClr val="72A125"/>
                </a:solidFill>
                <a:effectLst/>
                <a:latin typeface="dm mono" panose="020F0502020204030204" pitchFamily="49" charset="0"/>
              </a:rPr>
              <a:t>3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,</a:t>
            </a:r>
            <a:r>
              <a:rPr lang="en-US" sz="1050" b="0" i="0" dirty="0">
                <a:solidFill>
                  <a:srgbClr val="72A125"/>
                </a:solidFill>
                <a:effectLst/>
                <a:latin typeface="dm mono" panose="020F0502020204030204" pitchFamily="49" charset="0"/>
              </a:rPr>
              <a:t>2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], title</a:t>
            </a:r>
            <a:r>
              <a:rPr lang="en-US" sz="1050" b="0" i="0" dirty="0">
                <a:solidFill>
                  <a:srgbClr val="666666"/>
                </a:solidFill>
                <a:effectLst/>
                <a:latin typeface="dm mono" panose="020F0502020204030204" pitchFamily="49" charset="0"/>
              </a:rPr>
              <a:t>=</a:t>
            </a:r>
            <a:r>
              <a:rPr lang="en-US" sz="1050" b="0" i="0" dirty="0">
                <a:solidFill>
                  <a:srgbClr val="0854A7"/>
                </a:solidFill>
                <a:effectLst/>
                <a:latin typeface="dm mono" panose="020F0502020204030204" pitchFamily="49" charset="0"/>
              </a:rPr>
              <a:t>"sample figure"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)</a:t>
            </a:r>
          </a:p>
          <a:p>
            <a:pPr latinLnBrk="1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050" b="0" i="0" dirty="0">
                <a:solidFill>
                  <a:srgbClr val="008000"/>
                </a:solidFill>
                <a:effectLst/>
                <a:latin typeface="dm mono" panose="020F0502020204030204" pitchFamily="49" charset="0"/>
              </a:rPr>
              <a:t>print</a:t>
            </a:r>
            <a:r>
              <a:rPr lang="en-US" sz="1050" b="0" i="0" dirty="0">
                <a:solidFill>
                  <a:srgbClr val="434F54"/>
                </a:solidFill>
                <a:effectLst/>
                <a:latin typeface="dm mono" panose="020F0502020204030204" pitchFamily="49" charset="0"/>
              </a:rPr>
              <a:t>(fig)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01372-C873-0941-9C89-FF27C3AAF425}"/>
              </a:ext>
            </a:extLst>
          </p:cNvPr>
          <p:cNvSpPr txBox="1"/>
          <p:nvPr/>
        </p:nvSpPr>
        <p:spPr>
          <a:xfrm>
            <a:off x="6331975" y="1745086"/>
            <a:ext cx="5034115" cy="37856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Figure({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</a:t>
            </a:r>
            <a:r>
              <a:rPr lang="en-US" sz="12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'data': 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[{'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hovertemplate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'x=%{x}&lt;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br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&gt;y=%{y}&lt;extra&gt;&lt;/extra&gt;',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legendgroup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'',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'line': {'color': '#636efa', 'dash': 'solid'},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'marker': {'symbol': 'circle'},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'mode': 'lines',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'name': '',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'orientation': 'v',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showlegend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False,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'type': 'scatter',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'x': array(['a', 'b', 'c'], 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dtype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=object),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xaxis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'x',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'y': {'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bdata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'AQMC', 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dtype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'i1'},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yaxis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'y'}],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</a:t>
            </a:r>
            <a:r>
              <a:rPr lang="en-US" sz="12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'layout': 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{'legend': {'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tracegroupgap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0},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 'template': '...',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 'title': {'text': 'sample figure'},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 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xaxis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{'anchor': 'y', 'domain': [0.0, 1.0], 'title': {'text': 'x'}},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               '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yaxis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': {'anchor': 'x', 'domain': [0.0, 1.0], 'title': {'text': 'y'}}}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nuphan" pitchFamily="2" charset="-34"/>
                <a:cs typeface="Anuphan" pitchFamily="2" charset="-34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97554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B2CC-6A27-9BE5-054C-E94B6252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63F1131-478B-EE71-AD06-4220A75AC92A}"/>
              </a:ext>
            </a:extLst>
          </p:cNvPr>
          <p:cNvSpPr txBox="1"/>
          <p:nvPr/>
        </p:nvSpPr>
        <p:spPr>
          <a:xfrm>
            <a:off x="6644640" y="448386"/>
            <a:ext cx="5034115" cy="403187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Figure({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</a:t>
            </a:r>
            <a:r>
              <a:rPr lang="en-US" sz="1200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'data': </a:t>
            </a:r>
            <a:r>
              <a:rPr lang="en-US" sz="1600" b="1" i="0" dirty="0">
                <a:effectLst/>
                <a:highlight>
                  <a:srgbClr val="FFFF00"/>
                </a:highlight>
                <a:latin typeface="Anuphan" pitchFamily="2" charset="-34"/>
                <a:cs typeface="Anuphan" pitchFamily="2" charset="-34"/>
              </a:rPr>
              <a:t>[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{'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hovertemplate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'x=%{x}&lt;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br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&gt;y=%{y}&lt;extra&gt;&lt;/extra&gt;',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legendgroup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'',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'line': {'color': '#636efa', 'dash': 'solid'},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'marker': {'symbol': 'circle'},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'mode': 'lines',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'name': '',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'orientation': 'v',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showlegend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False,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'type': 'scatter',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'x': array(['a', 'b', 'c'], 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dtype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=object),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xaxis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'x',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'y': {'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bdata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'AQMC', 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dtype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'i1'},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yaxis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'y</a:t>
            </a:r>
            <a:r>
              <a:rPr lang="en-US" sz="1200" b="0" i="0" dirty="0">
                <a:effectLst/>
                <a:latin typeface="Anuphan" pitchFamily="2" charset="-34"/>
                <a:cs typeface="Anuphan" pitchFamily="2" charset="-34"/>
              </a:rPr>
              <a:t>'}</a:t>
            </a:r>
            <a:r>
              <a:rPr lang="en-US" sz="1600" b="1" i="0" dirty="0">
                <a:effectLst/>
                <a:highlight>
                  <a:srgbClr val="FFFF00"/>
                </a:highlight>
                <a:latin typeface="Anuphan" pitchFamily="2" charset="-34"/>
                <a:cs typeface="Anuphan" pitchFamily="2" charset="-34"/>
              </a:rPr>
              <a:t>]</a:t>
            </a:r>
            <a:r>
              <a:rPr lang="en-US" sz="1200" b="0" i="0" dirty="0">
                <a:effectLst/>
                <a:latin typeface="Anuphan" pitchFamily="2" charset="-34"/>
                <a:cs typeface="Anuphan" pitchFamily="2" charset="-34"/>
              </a:rPr>
              <a:t>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</a:t>
            </a:r>
            <a:r>
              <a:rPr lang="en-US" sz="1200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'layout': </a:t>
            </a:r>
            <a:r>
              <a:rPr lang="en-US" sz="1600" b="1" i="0" dirty="0">
                <a:effectLst/>
                <a:highlight>
                  <a:srgbClr val="FFFF00"/>
                </a:highlight>
                <a:latin typeface="Anuphan" pitchFamily="2" charset="-34"/>
                <a:cs typeface="Anuphan" pitchFamily="2" charset="-34"/>
              </a:rPr>
              <a:t>{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'legend': {'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tracegroupgap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0},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 'template': '...',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 'title': {'text': 'sample figure'},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 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xaxis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{'anchor': 'y', 'domain': [0.0, 1.0], 'title': {'text': 'x'}},</a:t>
            </a: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               '</a:t>
            </a:r>
            <a:r>
              <a:rPr lang="en-US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yaxis</a:t>
            </a: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': {'anchor': 'x', 'domain': [0.0, 1.0], 'title': {'text': 'y</a:t>
            </a:r>
            <a:r>
              <a:rPr lang="en-US" sz="1200" b="0" i="0" dirty="0">
                <a:effectLst/>
                <a:latin typeface="Anuphan" pitchFamily="2" charset="-34"/>
                <a:cs typeface="Anuphan" pitchFamily="2" charset="-34"/>
              </a:rPr>
              <a:t>'}}</a:t>
            </a:r>
            <a:r>
              <a:rPr lang="en-US" sz="1600" b="1" i="0" dirty="0">
                <a:effectLst/>
                <a:highlight>
                  <a:srgbClr val="FFFF00"/>
                </a:highlight>
                <a:latin typeface="Anuphan" pitchFamily="2" charset="-34"/>
                <a:cs typeface="Anuphan" pitchFamily="2" charset="-34"/>
              </a:rPr>
              <a:t>}</a:t>
            </a:r>
            <a:endParaRPr lang="en-US" sz="1200" b="1" i="0" dirty="0">
              <a:effectLst/>
              <a:highlight>
                <a:srgbClr val="FFFF00"/>
              </a:highlight>
              <a:latin typeface="Anuphan" pitchFamily="2" charset="-34"/>
              <a:cs typeface="Anuphan" pitchFamily="2" charset="-34"/>
            </a:endParaRPr>
          </a:p>
          <a:p>
            <a:pPr algn="l" fontAlgn="base" latinLnBrk="1">
              <a:buNone/>
            </a:pPr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})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11E795-DC04-C3DD-4FC8-A4C59CCB2ABA}"/>
              </a:ext>
            </a:extLst>
          </p:cNvPr>
          <p:cNvSpPr txBox="1"/>
          <p:nvPr/>
        </p:nvSpPr>
        <p:spPr>
          <a:xfrm>
            <a:off x="548640" y="448386"/>
            <a:ext cx="58902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A Plotly figure is a tree of attributes with 3 top-level keys: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nuphan" pitchFamily="2" charset="-34"/>
              <a:cs typeface="Anuphan" pitchFamily="2" charset="-3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 —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a list of "traces" (the actual chart content). Each trace has a type (e.g.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Anuphan" pitchFamily="2" charset="-34"/>
              </a:rPr>
              <a:t>scatter, bar, pie, surface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) and defines what gets drawn.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layout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 — controls everything non-data: dimensions, titles, axes, legends, colors, annotations, shapes, and interactive controls (sliders, dropdowns).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frames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 — optional, used for animations (a sequence of data states).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F3951-2B87-A65E-6A08-2DFFDE270A85}"/>
              </a:ext>
            </a:extLst>
          </p:cNvPr>
          <p:cNvSpPr txBox="1"/>
          <p:nvPr/>
        </p:nvSpPr>
        <p:spPr>
          <a:xfrm>
            <a:off x="548640" y="1803406"/>
            <a:ext cx="5440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Key concepts: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nuphan" pitchFamily="2" charset="-34"/>
              <a:cs typeface="Anuphan" pitchFamily="2" charset="-3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Figures are 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trees of named attributes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, navigated by dot paths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Anuphan" pitchFamily="2" charset="-34"/>
              </a:rPr>
              <a:t>like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Anuphan" pitchFamily="2" charset="-34"/>
              </a:rPr>
              <a:t>layout.xaxis.title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You don't need to set every attribute — Plotly.js fills in 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defaults at render time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Traces are drawn on 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subplots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 — 2D cartesian, 3D, polar, map, ternary, etc. Some traces (like pie, table,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sankey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) are their own subplot.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A config object (separate from the figure) controls UI behaviors like the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modebar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nuphan" pitchFamily="2" charset="-34"/>
                <a:cs typeface="Anuphan" pitchFamily="2" charset="-34"/>
              </a:rPr>
              <a:t> and scroll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88611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ADA4-3BA6-217F-DFE2-6C30B32B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F3BB2D-EB0A-401F-039B-386DEA6CB6DF}"/>
              </a:ext>
            </a:extLst>
          </p:cNvPr>
          <p:cNvSpPr txBox="1"/>
          <p:nvPr/>
        </p:nvSpPr>
        <p:spPr>
          <a:xfrm>
            <a:off x="1052052" y="3246792"/>
            <a:ext cx="100878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000" b="1" i="0" dirty="0">
                <a:solidFill>
                  <a:srgbClr val="20293D"/>
                </a:solidFill>
                <a:effectLst/>
                <a:latin typeface="Anuphan" pitchFamily="2" charset="-34"/>
                <a:cs typeface="Anuphan" pitchFamily="2" charset="-34"/>
              </a:rPr>
              <a:t>Creating and Updating Figures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56349-6056-99F3-DDD1-FEE53F231730}"/>
              </a:ext>
            </a:extLst>
          </p:cNvPr>
          <p:cNvSpPr txBox="1"/>
          <p:nvPr/>
        </p:nvSpPr>
        <p:spPr>
          <a:xfrm>
            <a:off x="1052052" y="39546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Creating and updating figures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90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DC7F1-97A9-FB13-AA3D-7C06D0D43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D36B3D-AFD8-50F2-5544-2694204D99C0}"/>
              </a:ext>
            </a:extLst>
          </p:cNvPr>
          <p:cNvSpPr txBox="1"/>
          <p:nvPr/>
        </p:nvSpPr>
        <p:spPr>
          <a:xfrm>
            <a:off x="1145458" y="691299"/>
            <a:ext cx="9901084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buNone/>
            </a:pPr>
            <a:r>
              <a:rPr lang="en-US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Figures As Dictionaries</a:t>
            </a:r>
          </a:p>
          <a:p>
            <a:pPr algn="l">
              <a:buNone/>
            </a:pPr>
            <a:r>
              <a:rPr lang="en-US" sz="1400" b="0" i="0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At a low level, figures can be represented as dictionaries and displayed using functions from the plotly.io module. </a:t>
            </a:r>
          </a:p>
          <a:p>
            <a:pPr algn="l">
              <a:buNone/>
            </a:pPr>
            <a:endParaRPr lang="en-US" sz="1400" dirty="0">
              <a:solidFill>
                <a:schemeClr val="tx2">
                  <a:lumMod val="50000"/>
                  <a:lumOff val="50000"/>
                </a:schemeClr>
              </a:solidFill>
              <a:latin typeface="Anuphan" pitchFamily="2" charset="-34"/>
              <a:cs typeface="Anuphan" pitchFamily="2" charset="-34"/>
            </a:endParaRPr>
          </a:p>
          <a:p>
            <a:pPr algn="l">
              <a:buNone/>
            </a:pPr>
            <a:r>
              <a:rPr lang="en-US" sz="14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nuphan" pitchFamily="2" charset="-34"/>
                <a:cs typeface="Anuphan" pitchFamily="2" charset="-34"/>
              </a:rPr>
              <a:t>The fig dictionary in the example below describes a figure. It contains a single bar trace and a title.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396F4-CD43-B911-FD3F-D67FBCB160FE}"/>
              </a:ext>
            </a:extLst>
          </p:cNvPr>
          <p:cNvSpPr txBox="1"/>
          <p:nvPr/>
        </p:nvSpPr>
        <p:spPr>
          <a:xfrm>
            <a:off x="1145458" y="2298340"/>
            <a:ext cx="6096000" cy="2739211"/>
          </a:xfrm>
          <a:prstGeom prst="rect">
            <a:avLst/>
          </a:prstGeom>
          <a:solidFill>
            <a:srgbClr val="EDECEB"/>
          </a:solidFill>
          <a:ln w="19050">
            <a:solidFill>
              <a:srgbClr val="B5ACA5"/>
            </a:solidFill>
          </a:ln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fig </a:t>
            </a:r>
            <a:r>
              <a:rPr lang="en-US" sz="1200" b="0" i="0" dirty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"data"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 i="0" dirty="0">
                <a:solidFill>
                  <a:srgbClr val="434F5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"bar"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             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200" b="0" i="0" dirty="0">
                <a:solidFill>
                  <a:srgbClr val="72A12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i="0" dirty="0">
                <a:solidFill>
                  <a:srgbClr val="72A12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i="0" dirty="0">
                <a:solidFill>
                  <a:srgbClr val="72A12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             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"y"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200" b="0" i="0" dirty="0">
                <a:solidFill>
                  <a:srgbClr val="72A12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i="0" dirty="0">
                <a:solidFill>
                  <a:srgbClr val="72A12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i="0" dirty="0">
                <a:solidFill>
                  <a:srgbClr val="72A12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r>
              <a:rPr lang="en-US" sz="1600" b="1" i="0" dirty="0">
                <a:solidFill>
                  <a:srgbClr val="434F5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r>
              <a:rPr lang="en-US" sz="120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"layout"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 i="0" dirty="0">
                <a:solidFill>
                  <a:srgbClr val="434F5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  <a:r>
              <a:rPr lang="en-US" sz="1200" b="1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title"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"A Figure Specified By Python Dictionary"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1" i="0" dirty="0">
                <a:solidFill>
                  <a:srgbClr val="434F5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algn="l" latinLnBrk="1">
              <a:buNone/>
            </a:pP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r>
              <a:rPr lang="en-US" sz="1200" b="0" i="1" dirty="0">
                <a:solidFill>
                  <a:srgbClr val="565656"/>
                </a:solidFill>
                <a:effectLst/>
                <a:latin typeface="Consolas" panose="020B0609020204030204" pitchFamily="49" charset="0"/>
              </a:rPr>
              <a:t># To display the figure defined by this </a:t>
            </a:r>
            <a:r>
              <a:rPr lang="en-US" sz="1200" b="0" i="1" dirty="0" err="1">
                <a:solidFill>
                  <a:srgbClr val="56565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sz="1200" b="0" i="1" dirty="0">
                <a:solidFill>
                  <a:srgbClr val="565656"/>
                </a:solidFill>
                <a:effectLst/>
                <a:latin typeface="Consolas" panose="020B0609020204030204" pitchFamily="49" charset="0"/>
              </a:rPr>
              <a:t>, use the low-level </a:t>
            </a:r>
            <a:r>
              <a:rPr lang="en-US" sz="1200" b="0" i="1" dirty="0" err="1">
                <a:solidFill>
                  <a:srgbClr val="565656"/>
                </a:solidFill>
                <a:effectLst/>
                <a:latin typeface="Consolas" panose="020B0609020204030204" pitchFamily="49" charset="0"/>
              </a:rPr>
              <a:t>plotly.io.show</a:t>
            </a:r>
            <a:r>
              <a:rPr lang="en-US" sz="1200" b="0" i="1" dirty="0">
                <a:solidFill>
                  <a:srgbClr val="565656"/>
                </a:solidFill>
                <a:effectLst/>
                <a:latin typeface="Consolas" panose="020B0609020204030204" pitchFamily="49" charset="0"/>
              </a:rPr>
              <a:t> function</a:t>
            </a: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r>
              <a:rPr lang="en-US" sz="1200" b="0" i="0" dirty="0">
                <a:solidFill>
                  <a:srgbClr val="F3470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plotly.io</a:t>
            </a:r>
            <a:r>
              <a:rPr lang="en-US" sz="12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>
                <a:solidFill>
                  <a:srgbClr val="F3470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pio</a:t>
            </a: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pio</a:t>
            </a:r>
            <a:r>
              <a:rPr lang="en-US" sz="1200" b="0" i="0" dirty="0" err="1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(fig)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E1AAC-9B26-5ADA-EF26-21BC046A6ABD}"/>
              </a:ext>
            </a:extLst>
          </p:cNvPr>
          <p:cNvSpPr txBox="1"/>
          <p:nvPr/>
        </p:nvSpPr>
        <p:spPr>
          <a:xfrm>
            <a:off x="1056968" y="5253468"/>
            <a:ext cx="99010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nuphan" pitchFamily="2" charset="-34"/>
                <a:cs typeface="Anuphan" pitchFamily="2" charset="-34"/>
              </a:rPr>
              <a:t>Based on the previous section, let’s look at the structure of Figure (</a:t>
            </a:r>
            <a:r>
              <a:rPr lang="en-US" sz="1400" dirty="0">
                <a:latin typeface="Consolas" panose="020B0609020204030204" pitchFamily="49" charset="0"/>
                <a:cs typeface="Anuphan" pitchFamily="2" charset="-34"/>
              </a:rPr>
              <a:t>fig</a:t>
            </a:r>
            <a:r>
              <a:rPr lang="en-US" sz="1400" dirty="0">
                <a:latin typeface="Anuphan" pitchFamily="2" charset="-34"/>
                <a:cs typeface="Anuphan" pitchFamily="2" charset="-34"/>
              </a:rPr>
              <a:t>)</a:t>
            </a:r>
            <a:endParaRPr lang="en-US" sz="1400" b="0" i="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nuphan" pitchFamily="2" charset="-34"/>
              <a:cs typeface="Anuphan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980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D043-57BB-F98D-A673-2D924C6E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14B597-E33E-D00E-FD25-120D6E16B496}"/>
              </a:ext>
            </a:extLst>
          </p:cNvPr>
          <p:cNvSpPr txBox="1"/>
          <p:nvPr/>
        </p:nvSpPr>
        <p:spPr>
          <a:xfrm>
            <a:off x="1056968" y="4860177"/>
            <a:ext cx="99010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nuphan" pitchFamily="2" charset="-34"/>
                <a:cs typeface="Anuphan" pitchFamily="2" charset="-34"/>
              </a:rPr>
              <a:t>Based on the previous section, let’s look at the structure of Figure (</a:t>
            </a:r>
            <a:r>
              <a:rPr lang="en-US" sz="1400" dirty="0">
                <a:latin typeface="Consolas" panose="020B0609020204030204" pitchFamily="49" charset="0"/>
                <a:cs typeface="Anuphan" pitchFamily="2" charset="-34"/>
              </a:rPr>
              <a:t>fig</a:t>
            </a:r>
            <a:r>
              <a:rPr lang="en-US" sz="1400" dirty="0">
                <a:latin typeface="Anuphan" pitchFamily="2" charset="-34"/>
                <a:cs typeface="Anuphan" pitchFamily="2" charset="-34"/>
              </a:rPr>
              <a:t>)</a:t>
            </a:r>
            <a:endParaRPr lang="en-US" sz="1400" b="0" i="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nuphan" pitchFamily="2" charset="-34"/>
              <a:cs typeface="Anuphan" pitchFamily="2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295D6-6D16-A3FE-D0EE-6459E52C2601}"/>
              </a:ext>
            </a:extLst>
          </p:cNvPr>
          <p:cNvSpPr txBox="1"/>
          <p:nvPr/>
        </p:nvSpPr>
        <p:spPr>
          <a:xfrm>
            <a:off x="1056968" y="601642"/>
            <a:ext cx="9576620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buNone/>
            </a:pPr>
            <a:r>
              <a:rPr lang="en-US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B0606030504020204" pitchFamily="34" charset="0"/>
              </a:rPr>
              <a:t>Plotly Express</a:t>
            </a:r>
          </a:p>
          <a:p>
            <a:pPr algn="l">
              <a:buNone/>
            </a:pPr>
            <a:r>
              <a:rPr lang="en-US" sz="1400" b="0" i="0" u="sng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Plotly Express</a:t>
            </a:r>
            <a:r>
              <a:rPr 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 (included as the </a:t>
            </a:r>
            <a:r>
              <a:rPr lang="en-US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plotly.express</a:t>
            </a:r>
            <a:r>
              <a:rPr 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 module) is a high-level data visualization API that produces fully-populated graph object figures in single function-calls.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AABBD-33E0-30FB-7DBC-F5F625358AD7}"/>
              </a:ext>
            </a:extLst>
          </p:cNvPr>
          <p:cNvSpPr txBox="1"/>
          <p:nvPr/>
        </p:nvSpPr>
        <p:spPr>
          <a:xfrm>
            <a:off x="1056968" y="1690046"/>
            <a:ext cx="6096000" cy="2123658"/>
          </a:xfrm>
          <a:prstGeom prst="rect">
            <a:avLst/>
          </a:prstGeom>
          <a:solidFill>
            <a:srgbClr val="EDECEB"/>
          </a:solidFill>
          <a:ln w="19050">
            <a:solidFill>
              <a:srgbClr val="B5ACA5"/>
            </a:solidFill>
          </a:ln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200" b="0" i="0" dirty="0">
                <a:solidFill>
                  <a:srgbClr val="F3470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plotly.express</a:t>
            </a:r>
            <a:r>
              <a:rPr lang="en-US" sz="12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>
                <a:solidFill>
                  <a:srgbClr val="F3470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px</a:t>
            </a: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US" sz="1200" b="0" i="0" dirty="0" err="1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200" b="0" i="0" dirty="0" err="1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 latinLnBrk="1">
              <a:buNone/>
            </a:pP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fig </a:t>
            </a:r>
            <a:r>
              <a:rPr lang="en-US" sz="1200" b="0" i="0" dirty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US" sz="1200" b="0" i="0" dirty="0" err="1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scatter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x</a:t>
            </a:r>
            <a:r>
              <a:rPr lang="en-US" sz="1200" b="0" i="0" dirty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i="0" dirty="0" err="1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sepal_width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y</a:t>
            </a:r>
            <a:r>
              <a:rPr lang="en-US" sz="1200" b="0" i="0" dirty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i="0" dirty="0" err="1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sepal_length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color</a:t>
            </a:r>
            <a:r>
              <a:rPr lang="en-US" sz="1200" b="0" i="0" dirty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"species"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title</a:t>
            </a:r>
            <a:r>
              <a:rPr lang="en-US" sz="1200" b="0" i="0" dirty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i="0" dirty="0">
                <a:solidFill>
                  <a:srgbClr val="0854A7"/>
                </a:solidFill>
                <a:effectLst/>
                <a:latin typeface="Consolas" panose="020B0609020204030204" pitchFamily="49" charset="0"/>
              </a:rPr>
              <a:t>"A Plotly Express Figure"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 latinLnBrk="1">
              <a:buNone/>
            </a:pP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r>
              <a:rPr lang="en-US" sz="1200" b="0" i="1" dirty="0">
                <a:solidFill>
                  <a:srgbClr val="565656"/>
                </a:solidFill>
                <a:effectLst/>
                <a:latin typeface="Consolas" panose="020B0609020204030204" pitchFamily="49" charset="0"/>
              </a:rPr>
              <a:t># If you print the figure, you'll see that it's just a regular figure with data and layout</a:t>
            </a: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r>
              <a:rPr lang="en-US" sz="1200" b="0" i="1" dirty="0">
                <a:solidFill>
                  <a:srgbClr val="565656"/>
                </a:solidFill>
                <a:effectLst/>
                <a:latin typeface="Consolas" panose="020B0609020204030204" pitchFamily="49" charset="0"/>
              </a:rPr>
              <a:t># print(fig)</a:t>
            </a: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endParaRPr lang="en-US" sz="1200" b="0" i="0" dirty="0">
              <a:solidFill>
                <a:srgbClr val="434F54"/>
              </a:solidFill>
              <a:effectLst/>
              <a:latin typeface="Consolas" panose="020B0609020204030204" pitchFamily="49" charset="0"/>
            </a:endParaRPr>
          </a:p>
          <a:p>
            <a:pPr algn="l" latinLnBrk="1">
              <a:buNone/>
            </a:pP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US" sz="1200" b="0" i="0" dirty="0" err="1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i="0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sz="1200" b="0" i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93999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40502-7F1F-8836-34B8-84F3BB178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859770-4FB1-CA4E-54AE-4E2522C319F1}"/>
              </a:ext>
            </a:extLst>
          </p:cNvPr>
          <p:cNvSpPr txBox="1"/>
          <p:nvPr/>
        </p:nvSpPr>
        <p:spPr>
          <a:xfrm>
            <a:off x="1052052" y="3246792"/>
            <a:ext cx="100878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000" b="1" i="0" dirty="0">
                <a:solidFill>
                  <a:srgbClr val="20293D"/>
                </a:solidFill>
                <a:effectLst/>
                <a:latin typeface="Anuphan" pitchFamily="2" charset="-34"/>
                <a:cs typeface="Anuphan" pitchFamily="2" charset="-34"/>
              </a:rPr>
              <a:t>Plotly Express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3362B-AC8E-1708-C907-F91C6AD185CF}"/>
              </a:ext>
            </a:extLst>
          </p:cNvPr>
          <p:cNvSpPr txBox="1"/>
          <p:nvPr/>
        </p:nvSpPr>
        <p:spPr>
          <a:xfrm>
            <a:off x="1052052" y="3954678"/>
            <a:ext cx="9163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nuphan" pitchFamily="2" charset="-34"/>
                <a:cs typeface="Anuphan" pitchFamily="2" charset="-34"/>
                <a:hlinkClick r:id="rId2"/>
              </a:rPr>
              <a:t>plotly.express</a:t>
            </a:r>
            <a:r>
              <a:rPr lang="en-US" dirty="0">
                <a:latin typeface="Anuphan" pitchFamily="2" charset="-34"/>
                <a:cs typeface="Anuphan" pitchFamily="2" charset="-34"/>
                <a:hlinkClick r:id="rId2"/>
              </a:rPr>
              <a:t>: high-level interface for data visualization — 6.6.0 documentation</a:t>
            </a:r>
            <a:endParaRPr lang="en-US" dirty="0">
              <a:latin typeface="Anuphan" pitchFamily="2" charset="-34"/>
              <a:cs typeface="Anuphan" pitchFamily="2" charset="-34"/>
            </a:endParaRPr>
          </a:p>
          <a:p>
            <a:r>
              <a:rPr lang="en-US" dirty="0">
                <a:latin typeface="Anuphan" pitchFamily="2" charset="-34"/>
                <a:cs typeface="Anuphan" pitchFamily="2" charset="-34"/>
                <a:hlinkClick r:id="rId3"/>
              </a:rPr>
              <a:t>Python API reference for </a:t>
            </a:r>
            <a:r>
              <a:rPr lang="en-US" dirty="0" err="1">
                <a:latin typeface="Anuphan" pitchFamily="2" charset="-34"/>
                <a:cs typeface="Anuphan" pitchFamily="2" charset="-34"/>
                <a:hlinkClick r:id="rId3"/>
              </a:rPr>
              <a:t>plotly</a:t>
            </a:r>
            <a:r>
              <a:rPr lang="en-US" dirty="0">
                <a:latin typeface="Anuphan" pitchFamily="2" charset="-34"/>
                <a:cs typeface="Anuphan" pitchFamily="2" charset="-34"/>
                <a:hlinkClick r:id="rId3"/>
              </a:rPr>
              <a:t> — 6.6.0 documentation</a:t>
            </a:r>
            <a:endParaRPr lang="en-US" dirty="0">
              <a:latin typeface="Anuphan" pitchFamily="2" charset="-34"/>
              <a:cs typeface="Anuphan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2259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1085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Anuphan</vt:lpstr>
      <vt:lpstr>dm mono</vt:lpstr>
      <vt:lpstr>Aptos Display</vt:lpstr>
      <vt:lpstr>Arial</vt:lpstr>
      <vt:lpstr>Aptos</vt:lpstr>
      <vt:lpstr>Open Sans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Kritsada Chan-inn</dc:creator>
  <cp:lastModifiedBy>Kritsada Chan-inn</cp:lastModifiedBy>
  <cp:revision>8</cp:revision>
  <dcterms:created xsi:type="dcterms:W3CDTF">2026-04-26T10:34:02Z</dcterms:created>
  <dcterms:modified xsi:type="dcterms:W3CDTF">2026-04-27T10:07:18Z</dcterms:modified>
</cp:coreProperties>
</file>